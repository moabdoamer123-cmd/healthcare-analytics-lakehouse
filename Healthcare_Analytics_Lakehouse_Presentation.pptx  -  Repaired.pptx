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53" y="-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16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4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9659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3317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Lakehouse Platform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34290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Gold, governed by an automated data-quality gateway,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by Apache Airflow, delivered to Power BI.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443484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4617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Data Engineering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Amer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Platform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five operational tables (patients, doctors, appointments, treatments, billing) live from a Neon PostgreSQL source via PySpark JDBC.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118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passes an automated Data Quality Gateway — uniqueness, referential integrity, domain rules, financial sanity — before it's trusted.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is reshaped into a proper star schema: four dimensions, two facts, with revenue variance calculated and independently verified.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8116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2811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3-page executive Power BI report, refreshed automatically by Airflow the moment the pipeline finishes and reconciles.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5 Neon tables   ·   Layers: Bronze / Silver / Gold + Quarantine   ·   Orchestration: 6-task Airflow DAG   ·   Output: 3-page Power BI report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Lakehouse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4F8F8"/>
          </a:solidFill>
          <a:ln w="19050">
            <a:solidFill>
              <a:srgbClr val="B9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30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414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16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16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immutable · append-only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02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02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deduplicated · validated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986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88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88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62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74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4F8F8"/>
          </a:solidFill>
          <a:ln w="19050">
            <a:solidFill>
              <a:srgbClr val="B9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774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48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report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4476" y="3566160"/>
            <a:ext cx="0" cy="59436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88636" y="4160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088636" y="4224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QUARANTINE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088636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rows + reason logs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394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lives on MinIO (S3-compatible object storage) and is written with PySpark using the S3A connector. Gold is additionally exported as local Parquet for direct, reliable Power BI connectivity.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PostgreSQL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object 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cleaning, transformation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format across all layers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Airflow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orchestration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56616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local deployment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0080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DQ Gateway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governance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256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23544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executive report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Quality Gateway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61848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Uniqueness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6184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must be non-null and unique; re-ingested duplicates resolved by latest ingestion 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18541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Sanity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1854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appointment_date cannot be set in the future relative to execution date.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27523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Financials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7523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billed_amount and treatment_cost must be strictly greater than zero.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33192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Enums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3192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payment_status must be one of Paid, Pending, Failed, Refunded.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0120" y="3886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886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foreign key must resolve to a real parent row in Silver.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69164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 w="12700">
            <a:solidFill>
              <a:srgbClr val="B9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86968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(raw)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95560" y="2240280"/>
            <a:ext cx="0" cy="320040"/>
          </a:xfrm>
          <a:prstGeom prst="line">
            <a:avLst/>
          </a:prstGeom>
          <a:noFill/>
          <a:ln w="19050">
            <a:solidFill>
              <a:srgbClr val="5A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69680" y="256032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86968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GATEWAY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3108960"/>
            <a:ext cx="0" cy="274320"/>
          </a:xfrm>
          <a:prstGeom prst="line">
            <a:avLst/>
          </a:prstGeom>
          <a:noFill/>
          <a:ln w="19050">
            <a:solidFill>
              <a:srgbClr val="5A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881360" y="3108960"/>
            <a:ext cx="0" cy="274320"/>
          </a:xfrm>
          <a:prstGeom prst="line">
            <a:avLst/>
          </a:prstGeom>
          <a:noFill/>
          <a:ln w="19050">
            <a:solidFill>
              <a:srgbClr val="5A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32520" y="33832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73252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69880" y="33832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46988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4160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is logged with a full reason and timestamp — nothing is silently dropped.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Layer — Star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811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2811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dim_patients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57987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57987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dim_doctors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163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23163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dim_treatments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8339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88339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80160" y="393192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50876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fact_appointments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4622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appointment_id · patient_id · doctor_id · date_key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is_noshow · reason_for_visit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16836" y="2423160"/>
            <a:ext cx="135788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6859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2035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7211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393192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72084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fact_billing_treatments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4622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bill_id · patient_id · treatment_id · doctor_id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billed_amount · treatment_cost · revenue_variance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16836" y="2423160"/>
            <a:ext cx="656996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68596" y="2423160"/>
            <a:ext cx="391820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20356" y="2423160"/>
            <a:ext cx="126644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7211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280160" y="5349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revenue_variance = billed_amount − treatment_cost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Orchestration</a:t>
            </a:r>
            <a:endParaRPr lang="en-US" sz="3000" dirty="0"/>
          </a:p>
        </p:txBody>
      </p:sp>
      <p:pic>
        <p:nvPicPr>
          <p:cNvPr id="4" name="Image 0" descr="assets/airflow_dag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949440" cy="3465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25780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5349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tasks succeeding end-to-end, including the Power BI refresh trigger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818120" y="17373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81812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16916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pre_run_check — live Neon + MinIO health &amp; bucket check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818120" y="24231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18120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3774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pyspark_extraction — Bronze ingestion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818120" y="31089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81812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0632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data_quality_rules — Silver DQ Gateway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818120" y="37947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81812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37490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gold_transformations — star schema build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7818120" y="44805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81812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4348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reconciliation_checks — fails the run on any mismatch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7818120" y="51663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818120" y="5166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51206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power_bi_refresh — triggers the Service dataset refresh</a:t>
            </a:r>
            <a:endParaRPr lang="en-US" sz="108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Command Center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617720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9050">
            <a:solidFill>
              <a:srgbClr val="DCE9E9"/>
            </a:solidFill>
            <a:prstDash val="solid"/>
          </a:ln>
          <a:effectLst>
            <a:outerShdw blurRad="101600" dist="38100" dir="5400000" algn="bl" rotWithShape="0">
              <a:srgbClr val="1A2E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dashboard_page1_execu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10835640" cy="42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Integrity &amp; Billing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617720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9050">
            <a:solidFill>
              <a:srgbClr val="DCE9E9"/>
            </a:solidFill>
            <a:prstDash val="solid"/>
          </a:ln>
          <a:effectLst>
            <a:outerShdw blurRad="101600" dist="38100" dir="5400000" algn="bl" rotWithShape="0">
              <a:srgbClr val="1A2E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dashboard_page2_finan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10835640" cy="42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 &amp; Capacity Planning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617720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9050">
            <a:solidFill>
              <a:srgbClr val="DCE9E9"/>
            </a:solidFill>
            <a:prstDash val="solid"/>
          </a:ln>
          <a:effectLst>
            <a:outerShdw blurRad="101600" dist="38100" dir="5400000" algn="bl" rotWithShape="0">
              <a:srgbClr val="1A2E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dashboard_page3_operat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10835640" cy="42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INTEGRITY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Silent Data Loss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→ Silver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Bronze row count and financial sum must exactly equal Silver + Quarantine.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→ Gold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46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and financial sums must match exactly — this join is lossless by construction.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667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Sanity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46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SUM(revenue_variance) is independently recomputed as SUM(billed_amount) − SUM(treatment_cost) and compared.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mismatch fails the Airflow task immediately — a broken pipeline never silently reports success, and Power BI never refreshes on unreconciled data.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FOUNDATION OF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Data, Verified Twice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data-quality gating, end-to-end reconciliation, and a fully orchestrated Airflow pipeline — from a live operational database to an executive-ready Power BI report.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4709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Amer — Healthcare Analytics &amp; Lakehouse Platform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</Words>
  <Application>Microsoft Office PowerPoint</Application>
  <PresentationFormat>Widescreen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Amer</cp:lastModifiedBy>
  <cp:revision>2</cp:revision>
  <dcterms:created xsi:type="dcterms:W3CDTF">2026-09-01T01:50:44Z</dcterms:created>
  <dcterms:modified xsi:type="dcterms:W3CDTF">2026-09-01T02:39:51Z</dcterms:modified>
</cp:coreProperties>
</file>