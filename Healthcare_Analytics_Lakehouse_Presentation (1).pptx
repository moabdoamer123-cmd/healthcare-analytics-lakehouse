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19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53" y="-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16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4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9659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3317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Lakehouse Platform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34290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Gold, governed by an automated data-quality gateway,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end-to-end by Apache Airflow, delivered to Power BI.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443484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0" y="4617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Data Engineering  ·  Updated October 2026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Amer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Platform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five operational tables (patients, doctors, appointments, treatments, billing) live from a Neon PostgreSQL source via PySpark JDBC.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118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passes an automated Data Quality Gateway — uniqueness, referential integrity, domain rules, financial sanity — before it's trusted.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4652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is reshaped into a proper star schema: four dimensions, two facts, with revenue variance calculated and independently verified.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8116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2811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redesigned 3-page executive Power BI report — filters panel, labeled KPI cards, data labels and a live “data last refreshed” stamp — refreshed automatically by Airflow the moment the pipeline finishes and reconciles.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5 Neon tables   ·   Layers: Bronze / Silver / Gold + Quarantine   ·   Orchestration: 6-task Airflow DAG (Celery + Redis)   ·   Output: 3-page Power BI report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Lakehouse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4F8F8"/>
          </a:solidFill>
          <a:ln w="19050">
            <a:solidFill>
              <a:srgbClr val="B9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30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414016" y="26974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16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916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· immutable · append-only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700016" y="26974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02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0A896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202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deduplicated · validated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986016" y="26974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88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88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62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26974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774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4F8F8"/>
          </a:solidFill>
          <a:ln w="19050">
            <a:solidFill>
              <a:srgbClr val="B9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774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848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report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4476" y="3566160"/>
            <a:ext cx="0" cy="59436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88636" y="41605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DEDEC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088636" y="4224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QUARANTINE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088636" y="4526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rows + reason logs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3949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lives on MinIO (S3-compatible object storage) and is written with PySpark using the S3A connector. Gold is additionally written back to Neon Postgres — the serving layer Power BI reads from — and exported as local Parquet for ad-hoc analysis.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 PostgreSQL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database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 object storage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cleaning, transformation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235440" y="2148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Parquet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format across all layers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1520" y="4160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Airflow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00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CeleryExecutor + Redis orchestration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566160" y="4160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800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local deployment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00800" y="4160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DQ Gateway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800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governance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5256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235440" y="4160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4800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3-page report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Quality Gateway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61848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Uniqueness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6184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must be non-null and unique; re-ingested duplicates resolved by latest ingestion time.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218541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Sanity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1854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appointment_date cannot be set in the future relative to execution date.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275234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Financials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7523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billed_amount and treatment_cost must be strictly greater than zero.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0120" y="33192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Enums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33192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payment_status must be one of Paid, Pending, Failed, Refunded.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60120" y="3886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886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foreign key must resolve to a real parent row in Silver.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169164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 w="12700">
            <a:solidFill>
              <a:srgbClr val="B9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86968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(raw)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195560" y="2240280"/>
            <a:ext cx="0" cy="320040"/>
          </a:xfrm>
          <a:prstGeom prst="line">
            <a:avLst/>
          </a:prstGeom>
          <a:noFill/>
          <a:ln w="19050">
            <a:solidFill>
              <a:srgbClr val="5A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69680" y="256032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86968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GATEWAY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09760" y="3108960"/>
            <a:ext cx="0" cy="274320"/>
          </a:xfrm>
          <a:prstGeom prst="line">
            <a:avLst/>
          </a:prstGeom>
          <a:noFill/>
          <a:ln w="19050">
            <a:solidFill>
              <a:srgbClr val="5A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881360" y="3108960"/>
            <a:ext cx="0" cy="274320"/>
          </a:xfrm>
          <a:prstGeom prst="line">
            <a:avLst/>
          </a:prstGeom>
          <a:noFill/>
          <a:ln w="19050">
            <a:solidFill>
              <a:srgbClr val="5A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32520" y="33832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732520" y="3474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469880" y="33832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0469880" y="3474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4160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rejection is logged with a full reason and timestamp — nothing is silently dropped.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Layer — Star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28116" y="18288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4F8F8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28116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dim_patients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579876" y="18288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4F8F8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579876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dim_doctors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1636" y="18288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4F8F8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231636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dim_treatments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83396" y="18288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4F8F8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883396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280160" y="393192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508760" y="4069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fact_appointments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4622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appointment_id · patient_id · doctor_id · date_key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is_noshow · reason_for_visit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16836" y="2423160"/>
            <a:ext cx="1357884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68596" y="2423160"/>
            <a:ext cx="0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20356" y="2423160"/>
            <a:ext cx="0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72116" y="2423160"/>
            <a:ext cx="0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0" y="393192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720840" y="4069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fact_billing_treatments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44622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bill_id · patient_id · treatment_id · doctor_id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billed_amount · treatment_cost · revenue_variance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16836" y="2423160"/>
            <a:ext cx="6569964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68596" y="2423160"/>
            <a:ext cx="3918204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20356" y="2423160"/>
            <a:ext cx="1266444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72116" y="2423160"/>
            <a:ext cx="0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280160" y="5349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revenue_variance = billed_amount − treatment_cost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Orchestration</a:t>
            </a:r>
            <a:endParaRPr lang="en-US" sz="3000" dirty="0"/>
          </a:p>
        </p:txBody>
      </p:sp>
      <p:pic>
        <p:nvPicPr>
          <p:cNvPr id="4" name="Image 0" descr="assets/airflow_dag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949440" cy="3465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25780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5349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tasks succeeding end-to-end, including the Power BI refresh trigger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818120" y="17373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818120" y="1737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16916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pre_run_check — live Neon + MinIO health &amp; bucket check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818120" y="24231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818120" y="2423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3774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pyspark_extraction — Bronze ingestion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818120" y="31089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81812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30632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data_quality_rules — Silver DQ Gateway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818120" y="37947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818120" y="3794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37490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gold_transformations — star schema build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7818120" y="44805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81812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4348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reconciliation_checks — fails the run on any mismatch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7818120" y="51663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818120" y="5166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51206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power_bi_refresh — triggers the Service dataset refresh</a:t>
            </a:r>
            <a:endParaRPr lang="en-US" sz="108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WHAT'S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E2E"/>
                </a:solidFill>
                <a:latin typeface="Cambria"/>
              </a:rPr>
              <a:t>Updates — October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606040" cy="3017520"/>
          </a:xfrm>
          <a:prstGeom prst="rect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2E2E"/>
                </a:solidFill>
                <a:latin typeface="Cambria"/>
              </a:rPr>
              <a:t>Report 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C"/>
                </a:solidFill>
                <a:latin typeface="Calibri"/>
              </a:rPr>
              <a:t>White branded header on all three pages, a dedicated Filters panel, KPI cards with visible labels, $K data labels, and Refresh / Clear Filters controls.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691640"/>
            <a:ext cx="2606040" cy="3017520"/>
          </a:xfrm>
          <a:prstGeom prst="rect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1880" y="196596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2E2E"/>
                </a:solidFill>
                <a:latin typeface="Cambria"/>
              </a:rPr>
              <a:t>Live Refresh Stamp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0175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C"/>
                </a:solidFill>
                <a:latin typeface="Calibri"/>
              </a:rPr>
              <a:t>A new 'Data Last Refreshed' DAX measure (FORMAT(NOW())) replaces the static timestamp and updates automatically on every model refresh.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2606040" cy="3017520"/>
          </a:xfrm>
          <a:prstGeom prst="rect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2E2E"/>
                </a:solidFill>
                <a:latin typeface="Cambria"/>
              </a:rPr>
              <a:t>Gold → Neon Serving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175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C"/>
                </a:solidFill>
                <a:latin typeface="Calibri"/>
              </a:rPr>
              <a:t>The Gold star schema is now also written back to Neon Postgres, and Power BI reads public.* tables through the Python connector — no hard-coded local paths.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691640"/>
            <a:ext cx="2606040" cy="3017520"/>
          </a:xfrm>
          <a:prstGeom prst="rect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81160" y="196596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2E2E"/>
                </a:solidFill>
                <a:latin typeface="Cambria"/>
              </a:rPr>
              <a:t>Celery + 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0175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C"/>
                </a:solidFill>
                <a:latin typeface="Calibri"/>
              </a:rPr>
              <a:t>Airflow moved from LocalExecutor to CeleryExecutor with a Redis broker, SMTP alert variables, and a volume-mounted Gold export at /opt/airflow/output.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A896"/>
                </a:solidFill>
                <a:latin typeface="Calibri"/>
              </a:rPr>
              <a:t>All report JSON validated  ·  Reconciliation green  ·  48 semantic-model &amp; report files parse cleanly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6C"/>
                </a:solidFill>
                <a:latin typeface="Calibri"/>
              </a:rPr>
              <a:t>Healthcare Analytics &amp; Lakehouse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6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PAGE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Command Center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4617720"/>
          </a:xfrm>
          <a:prstGeom prst="roundRect">
            <a:avLst>
              <a:gd name="adj" fmla="val 792"/>
            </a:avLst>
          </a:prstGeom>
          <a:solidFill>
            <a:srgbClr val="FFFFFF"/>
          </a:solidFill>
          <a:ln w="19050">
            <a:solidFill>
              <a:srgbClr val="DCE9E9"/>
            </a:solidFill>
            <a:prstDash val="solid"/>
          </a:ln>
          <a:effectLst>
            <a:outerShdw blurRad="101600" dist="38100" dir="5400000" algn="bl" rotWithShape="0">
              <a:srgbClr val="1A2E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8" name="Picture 7" descr="dashboard_page1_execu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785" y="1783080"/>
            <a:ext cx="7611669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PAGE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Integrity &amp; Billing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4617720"/>
          </a:xfrm>
          <a:prstGeom prst="roundRect">
            <a:avLst>
              <a:gd name="adj" fmla="val 792"/>
            </a:avLst>
          </a:prstGeom>
          <a:solidFill>
            <a:srgbClr val="FFFFFF"/>
          </a:solidFill>
          <a:ln w="19050">
            <a:solidFill>
              <a:srgbClr val="DCE9E9"/>
            </a:solidFill>
            <a:prstDash val="solid"/>
          </a:ln>
          <a:effectLst>
            <a:outerShdw blurRad="101600" dist="38100" dir="5400000" algn="bl" rotWithShape="0">
              <a:srgbClr val="1A2E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8" name="Picture 7" descr="dashboard_page2_finan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758" y="1783080"/>
            <a:ext cx="7495723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PAGE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Efficiency &amp; Capacity Planning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4617720"/>
          </a:xfrm>
          <a:prstGeom prst="roundRect">
            <a:avLst>
              <a:gd name="adj" fmla="val 792"/>
            </a:avLst>
          </a:prstGeom>
          <a:solidFill>
            <a:srgbClr val="FFFFFF"/>
          </a:solidFill>
          <a:ln w="19050">
            <a:solidFill>
              <a:srgbClr val="DCE9E9"/>
            </a:solidFill>
            <a:prstDash val="solid"/>
          </a:ln>
          <a:effectLst>
            <a:outerShdw blurRad="101600" dist="38100" dir="5400000" algn="bl" rotWithShape="0">
              <a:srgbClr val="1A2E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8" name="Picture 7" descr="dashboard_page3_operati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570" y="1783080"/>
            <a:ext cx="7562099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&amp; INTEGRITY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Silent Data Loss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→ Silver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Bronze row count and financial sum must exactly equal Silver + Quarantine.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→ Gold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46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and financial sums must match exactly — this join is lossless by construction.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3667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Sanity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246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SUM(revenue_variance) is independently recomputed as SUM(billed_amount) − SUM(treatment_cost) and compared.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mismatch fails the Airflow task immediately — a broken pipeline never silently reports success, and Power BI never refreshes on unreconciled data.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5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FOUNDATION OF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688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Data, Verified Twice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data-quality gating, end-to-end reconciliation, and a fully orchestrated Airflow pipeline — from a live operational database to an executive-ready Power BI report.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4709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Amer — Healthcare Analytics &amp; Lakehouse Platform Capstone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</Words>
  <Application>Microsoft Office PowerPoint</Application>
  <PresentationFormat>Widescreen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Amer</cp:lastModifiedBy>
  <cp:revision>2</cp:revision>
  <dcterms:created xsi:type="dcterms:W3CDTF">2026-09-01T01:50:44Z</dcterms:created>
  <dcterms:modified xsi:type="dcterms:W3CDTF">2026-09-01T02:39:51Z</dcterms:modified>
</cp:coreProperties>
</file>