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8" r:id="rId19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9" d="100"/>
          <a:sy n="89" d="100"/>
        </p:scale>
        <p:origin x="53" y="-3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61624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F454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371600" y="4754880"/>
            <a:ext cx="4572000" cy="45720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822960" y="283464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96596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2331720"/>
            <a:ext cx="7040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Medallion Lakehouse Platform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Gold, governed by an automated data-quality gateway,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orchestrated end-to-end by Apache Airflow, delivered to Power BI.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0" y="443484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0" y="46177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C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— Data Engineering  ·  Updated October 2026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6035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Amer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Platform Does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five operational tables (patients, doctors, appointments, treatments, billing) live from a Neon PostgreSQL source via PySpark JDBC.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1188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passes an automated Data Quality Gateway — uniqueness, referential integrity, domain rules, financial sanity — before it's trusted.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44652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 txBox="1"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is reshaped into a proper star schema: four dimensions, two facts, with revenue variance calculated and independently verified.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017520"/>
          </a:xfrm>
          <a:prstGeom prst="roundRect">
            <a:avLst>
              <a:gd name="adj" fmla="val 2807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281160" y="196596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60604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017520"/>
            <a:ext cx="2148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redesigned 3-page executive Power BI report — filters panel, labeled KPI cards, data labels and a live “data last refreshed” stamp — refreshed automatically by Airflow the moment the pipeline finishes and reconciles.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5 Neon tables   ·   Layers: Bronze / Silver / Gold + Quarantine   ·   Orchestration: 6-task Airflow DAG (Celery + Redis)   ·   Output: 3-page Power BI report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Medallion Lakehouse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30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F4F8F8"/>
          </a:solidFill>
          <a:ln w="1905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630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414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16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2916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990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· immutable · append-only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700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202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0A896"/>
          </a:solidFill>
          <a:ln w="1905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5202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· deduplicated · validated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986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488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02C39A"/>
          </a:solidFill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488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62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272016" y="2697480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774936" y="2377440"/>
            <a:ext cx="1783080" cy="1188720"/>
          </a:xfrm>
          <a:prstGeom prst="roundRect">
            <a:avLst>
              <a:gd name="adj" fmla="val 6154"/>
            </a:avLst>
          </a:prstGeom>
          <a:solidFill>
            <a:srgbClr val="F4F8F8"/>
          </a:solidFill>
          <a:ln w="1905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9774936" y="2542032"/>
            <a:ext cx="1783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848088" y="3090672"/>
            <a:ext cx="163677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report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94476" y="3566160"/>
            <a:ext cx="0" cy="5943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88636" y="416052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DEDEC"/>
          </a:solidFill>
          <a:ln w="1524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5088636" y="422452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088636" y="45262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22B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rows + reason logs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97280" y="539496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lives on MinIO (S3-compatible object storage) and is written with PySpark using the S3A connector. Gold is additionally written back to Neon Postgres — the serving layer Power BI reads from — and exported as local Parquet for ad-hoc analysis.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PLATFORMS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Neon PostgreSQL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database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356616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S3-compatible object storage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640080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PySpark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Extraction, cleaning, transformation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8288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235440" y="214884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Parquet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7889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format across all layers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73152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Apache Airflow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CeleryExecutor + Redis orchestration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38328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356616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Compose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local deployment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40080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DQ Gateway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&amp; governance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384048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9235440" y="416052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 BI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235440" y="4800600"/>
            <a:ext cx="2240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Redesigned 3-page report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Quality Gateway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60120" y="1618488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Uniqueness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61848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keys must be non-null and unique; re-ingested duplicates resolved by latest ingestion time.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25856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 txBox="1"/>
          <p:nvPr/>
        </p:nvSpPr>
        <p:spPr>
          <a:xfrm>
            <a:off x="960120" y="218541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 Sanity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18541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appointment_date cannot be set in the future relative to execution date.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960120" y="2752344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Positive Financials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27523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billed_amount and treatment_cost must be strictly greater than zero.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392424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 txBox="1"/>
          <p:nvPr/>
        </p:nvSpPr>
        <p:spPr>
          <a:xfrm>
            <a:off x="960120" y="331927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 Enums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331927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payment_status must be one of Paid, Pending, Failed, Refunded.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95935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960120" y="388620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Referential Integrity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8862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foreign key must resolve to a real parent row in Silver.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9680" y="169164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F4F8F8"/>
          </a:solidFill>
          <a:ln w="12700">
            <a:solidFill>
              <a:srgbClr val="B9CF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8869680" y="178308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(raw)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195560" y="2240280"/>
            <a:ext cx="0" cy="32004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869680" y="2560320"/>
            <a:ext cx="2651760" cy="5486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8869680" y="2651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GATEWAY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509760" y="3108960"/>
            <a:ext cx="0" cy="27432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881360" y="3108960"/>
            <a:ext cx="0" cy="274320"/>
          </a:xfrm>
          <a:prstGeom prst="line">
            <a:avLst/>
          </a:prstGeom>
          <a:noFill/>
          <a:ln w="19050">
            <a:solidFill>
              <a:srgbClr val="5A6B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8732520" y="33832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8732520" y="3474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469880" y="3383280"/>
            <a:ext cx="1554480" cy="548640"/>
          </a:xfrm>
          <a:prstGeom prst="roundRect">
            <a:avLst>
              <a:gd name="adj" fmla="val 1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10469880" y="34747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732520" y="41605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logged with a full reason and timestamp — nothing is silently dropped.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Layer — Star Schema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2811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92811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dim_patients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57987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357987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dim_doctors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3163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623163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dim_treatments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83396" y="18288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4F8F8"/>
          </a:solidFill>
          <a:ln w="1905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8883396" y="194767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280160" y="3931920"/>
            <a:ext cx="438912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150876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fact_appointments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46227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appointment_id · patient_id · doctor_id · date_key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· is_noshow · reason_for_visit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16836" y="2423160"/>
            <a:ext cx="135788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76859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2035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07211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492240" y="3931920"/>
            <a:ext cx="4389120" cy="1188720"/>
          </a:xfrm>
          <a:prstGeom prst="roundRect">
            <a:avLst>
              <a:gd name="adj" fmla="val 615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 txBox="1"/>
          <p:nvPr/>
        </p:nvSpPr>
        <p:spPr>
          <a:xfrm>
            <a:off x="6720840" y="40690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fact_billing_treatments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20840" y="446227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bill_id · patient_id · treatment_id · doctor_id</a:t>
            </a:r>
            <a:endParaRPr lang="en-US" sz="10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billed_amount · treatment_cost · revenue_variance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16836" y="2423160"/>
            <a:ext cx="656996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68596" y="2423160"/>
            <a:ext cx="391820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20356" y="2423160"/>
            <a:ext cx="1266444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072116" y="2423160"/>
            <a:ext cx="0" cy="1508760"/>
          </a:xfrm>
          <a:prstGeom prst="line">
            <a:avLst/>
          </a:prstGeom>
          <a:noFill/>
          <a:ln w="9525">
            <a:solidFill>
              <a:srgbClr val="CFE3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 txBox="1"/>
          <p:nvPr/>
        </p:nvSpPr>
        <p:spPr>
          <a:xfrm>
            <a:off x="1280160" y="53492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revenue_variance = billed_amount − treatment_cost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AIRFLOW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Orchestration</a:t>
            </a:r>
            <a:endParaRPr lang="en-US" sz="3000" dirty="0"/>
          </a:p>
        </p:txBody>
      </p:sp>
      <p:pic>
        <p:nvPicPr>
          <p:cNvPr id="4" name="Image 0" descr="assets/airflow_dag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6949440" cy="34655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257800"/>
            <a:ext cx="6949440" cy="548640"/>
          </a:xfrm>
          <a:prstGeom prst="roundRect">
            <a:avLst>
              <a:gd name="adj" fmla="val 10000"/>
            </a:avLst>
          </a:prstGeom>
          <a:solidFill>
            <a:srgbClr val="F4F8F8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 txBox="1"/>
          <p:nvPr/>
        </p:nvSpPr>
        <p:spPr>
          <a:xfrm>
            <a:off x="731520" y="534924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tasks succeeding end-to-end, including the Power BI refresh trigger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818120" y="1737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818120" y="1737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229600" y="16916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pre_run_check — live Neon + MinIO health &amp; bucket check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7818120" y="24231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7818120" y="2423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3774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pyspark_extraction — Bronze ingestion</a:t>
            </a:r>
            <a:endParaRPr lang="en-US" sz="1080" dirty="0"/>
          </a:p>
        </p:txBody>
      </p:sp>
      <p:sp>
        <p:nvSpPr>
          <p:cNvPr id="13" name="Shape 10"/>
          <p:cNvSpPr/>
          <p:nvPr/>
        </p:nvSpPr>
        <p:spPr>
          <a:xfrm>
            <a:off x="7818120" y="31089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7818120" y="31089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0" y="30632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data_quality_rules — Silver DQ Gateway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818120" y="37947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7818120" y="37947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7490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gold_transformations — star schema build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7818120" y="44805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7818120" y="44805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44348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reconciliation_checks — fails the run on any mismatch</a:t>
            </a:r>
            <a:endParaRPr lang="en-US" sz="1080" dirty="0"/>
          </a:p>
        </p:txBody>
      </p:sp>
      <p:sp>
        <p:nvSpPr>
          <p:cNvPr id="22" name="Shape 19"/>
          <p:cNvSpPr/>
          <p:nvPr/>
        </p:nvSpPr>
        <p:spPr>
          <a:xfrm>
            <a:off x="7818120" y="516636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7818120" y="5166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0" y="5120640"/>
            <a:ext cx="3429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power_bi_refresh — triggers the Service dataset refresh</a:t>
            </a:r>
            <a:endParaRPr lang="en-US" sz="108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Command Center Overview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assets/dashboard_page1_execu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1083564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Integrity &amp; Billing Operations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assets/dashboard_page2_financ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1083564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— PAGE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Operational Efficiency &amp; Capacity Planning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11201400" cy="4617720"/>
          </a:xfrm>
          <a:prstGeom prst="roundRect">
            <a:avLst>
              <a:gd name="adj" fmla="val 792"/>
            </a:avLst>
          </a:prstGeom>
          <a:solidFill>
            <a:srgbClr val="FFFFFF"/>
          </a:solidFill>
          <a:ln w="19050">
            <a:solidFill>
              <a:srgbClr val="DCE9E9"/>
            </a:solidFill>
            <a:prstDash val="solid"/>
          </a:ln>
          <a:effectLst>
            <a:outerShdw blurRad="101600" dist="38100" dir="5400000" algn="bl" rotWithShape="0">
              <a:srgbClr val="1A2E2E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assets/dashboard_page3_operat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3080"/>
            <a:ext cx="10835640" cy="42519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 &amp; INTEGRITY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Silent Data Loss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 txBox="1"/>
          <p:nvPr/>
        </p:nvSpPr>
        <p:spPr>
          <a:xfrm>
            <a:off x="77724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 → Silver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Bronze row count and financial sum must exactly equal Silver + Quarantine.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57200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 → Gold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EAFB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counts and financial sums must match exactly — this join is lossless by construction.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920240"/>
            <a:ext cx="3520440" cy="2651760"/>
          </a:xfrm>
          <a:prstGeom prst="roundRect">
            <a:avLst>
              <a:gd name="adj" fmla="val 2759"/>
            </a:avLst>
          </a:prstGeom>
          <a:solidFill>
            <a:srgbClr val="F4F8F8"/>
          </a:solidFill>
          <a:ln w="12700">
            <a:solidFill>
              <a:srgbClr val="DCE9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366760" y="2148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Sanity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324612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SUM(revenue_variance) is independently recomputed as SUM(billed_amount) − SUM(treatment_cost) and compared.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mismatch fails the Airflow task immediately — a broken pipeline never silently reports success, and Power BI never refreshes on unreconciled data.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Analytics &amp; Lakehouse Platform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53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-1371600"/>
            <a:ext cx="4572000" cy="45720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 FOUNDATION OF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468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Data, Verified Twice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CFEA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data-quality gating, end-to-end reconciliation, and a fully orchestrated Airflow pipeline — from a live operational database to an executive-ready Power BI report.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4480560"/>
            <a:ext cx="201168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4709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C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 Amer — Healthcare Analytics &amp; Lakehouse Platform Capstone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A896"/>
                </a:solidFill>
                <a:latin typeface="Calibri"/>
              </a:rPr>
              <a:t>WHAT'S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E2E"/>
                </a:solidFill>
                <a:latin typeface="Cambria"/>
              </a:rPr>
              <a:t>Updates — October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Report 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White branded header on all three pages, a dedicated Filters panel, KPI cards with visible labels, $K data labels, and Refresh / Clear Filters controls.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1188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Live Refresh Stamp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A new 'Data Last Refreshed' DAX measure (FORMAT(NOW())) replaces the static timestamp and updates automatically on every model refresh.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Gold → Neon Serving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The Gold star schema is now also written back to Neon Postgres, and Power BI reads public.* tables through the Python connector — no hard-coded local paths.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1691640"/>
            <a:ext cx="2606040" cy="3017520"/>
          </a:xfrm>
          <a:prstGeom prst="rect">
            <a:avLst/>
          </a:prstGeom>
          <a:solidFill>
            <a:srgbClr val="F4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81160" y="1965960"/>
            <a:ext cx="5029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60604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2E2E"/>
                </a:solidFill>
                <a:latin typeface="Cambria"/>
              </a:rPr>
              <a:t>Celery + Redis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017520"/>
            <a:ext cx="2148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6B6C"/>
                </a:solidFill>
                <a:latin typeface="Calibri"/>
              </a:rPr>
              <a:t>Airflow moved from LocalExecutor to CeleryExecutor with a Redis broker, SMTP alert variables, and a volume-mounted Gold export at /opt/airflow/output.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00A896"/>
                </a:solidFill>
                <a:latin typeface="Calibri"/>
              </a:rPr>
              <a:t>All report JSON validated  ·  Reconciliation green  ·  48 semantic-model &amp; report files parse cleanly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6C"/>
                </a:solidFill>
                <a:latin typeface="Calibri"/>
              </a:rPr>
              <a:t>Healthcare Analytics &amp; Lakehouse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815</Words>
  <Application>Microsoft Office PowerPoint</Application>
  <PresentationFormat>Widescreen</PresentationFormat>
  <Paragraphs>160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Mohamed Amer</cp:lastModifiedBy>
  <cp:revision>2</cp:revision>
  <dcterms:created xsi:type="dcterms:W3CDTF">2026-09-01T01:50:44Z</dcterms:created>
  <dcterms:modified xsi:type="dcterms:W3CDTF">2026-09-01T02:39:51Z</dcterms:modified>
</cp:coreProperties>
</file>