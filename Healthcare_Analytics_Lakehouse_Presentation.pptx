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8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61624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5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0F45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371600" y="4754880"/>
            <a:ext cx="4572000" cy="4572000"/>
          </a:xfrm>
          <a:prstGeom prst="ellipse">
            <a:avLst/>
          </a:prstGeom>
          <a:solidFill>
            <a:srgbClr val="028090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822960" y="2834640"/>
            <a:ext cx="2560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KPI</a:t>
            </a:r>
            <a:endParaRPr lang="en-US" sz="6400" dirty="0"/>
          </a:p>
        </p:txBody>
      </p:sp>
      <p:sp>
        <p:nvSpPr>
          <p:cNvPr id="5" name="Text 3"/>
          <p:cNvSpPr txBox="1"/>
          <p:nvPr/>
        </p:nvSpPr>
        <p:spPr>
          <a:xfrm>
            <a:off x="4572000" y="1965960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ANALYTICS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0" y="2331720"/>
            <a:ext cx="7040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Medallion Lakehouse Platform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4572000" y="342900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FE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→ Silver → Gold, governed by an automated data-quality gateway,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FE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orchestrated end-to-end by Apache Airflow, delivered to Power BI.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0" y="4434840"/>
            <a:ext cx="201168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4572000" y="46177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FC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— Data Engineering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6035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Amer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Platform Does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F4F8F8"/>
          </a:solidFill>
          <a:ln w="12700">
            <a:solidFill>
              <a:srgbClr val="DCE9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196596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77240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60604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017520"/>
            <a:ext cx="2148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five operational tables (patients, doctors, appointments, treatments, billing) live from a Neon PostgreSQL source via PySpark JDBC.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83280" y="169164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F4F8F8"/>
          </a:solidFill>
          <a:ln w="12700">
            <a:solidFill>
              <a:srgbClr val="DCE9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11880" y="196596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3611880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611880" y="260604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611880" y="3017520"/>
            <a:ext cx="2148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row passes an automated Data Quality Gateway — uniqueness, referential integrity, domain rules, financial sanity — before it's trusted.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169164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F4F8F8"/>
          </a:solidFill>
          <a:ln w="12700">
            <a:solidFill>
              <a:srgbClr val="DCE9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446520" y="196596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6446520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446520" y="260604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446520" y="3017520"/>
            <a:ext cx="2148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data is reshaped into a proper star schema: four dimensions, two facts, with revenue variance calculated and independently verified.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052560" y="169164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F4F8F8"/>
          </a:solidFill>
          <a:ln w="12700">
            <a:solidFill>
              <a:srgbClr val="DCE9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281160" y="196596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9281160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9281160" y="260604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9281160" y="3017520"/>
            <a:ext cx="2148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3-page executive Power BI report — filters panel, labeled KPI cards, data labels and a live “data last refreshed” stamp — refreshed automatically by Airflow the moment the pipeline finishes and reconciles.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029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5 Neon tables   ·   Layers: Bronze / Silver / Gold + Quarantine   ·   Orchestration: 6-task Airflow DAG (Celery + Redis)   ·   Output: 3-page Power BI report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Analytics &amp; Lakehouse Platform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Medallion Lakehouse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30936" y="2377440"/>
            <a:ext cx="1783080" cy="1188720"/>
          </a:xfrm>
          <a:prstGeom prst="roundRect">
            <a:avLst>
              <a:gd name="adj" fmla="val 6154"/>
            </a:avLst>
          </a:prstGeom>
          <a:solidFill>
            <a:srgbClr val="F4F8F8"/>
          </a:solidFill>
          <a:ln w="19050">
            <a:solidFill>
              <a:srgbClr val="B9CF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630936" y="2542032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Neon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A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PostgreSQL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04088" y="3090672"/>
            <a:ext cx="16367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2414016" y="269748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916936" y="2377440"/>
            <a:ext cx="1783080" cy="1188720"/>
          </a:xfrm>
          <a:prstGeom prst="roundRect">
            <a:avLst>
              <a:gd name="adj" fmla="val 6154"/>
            </a:avLst>
          </a:prstGeom>
          <a:solidFill>
            <a:srgbClr val="028090"/>
          </a:solidFill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2916936" y="2542032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BRONZE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990088" y="3090672"/>
            <a:ext cx="16367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A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· immutable · append-only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4700016" y="269748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202936" y="2377440"/>
            <a:ext cx="1783080" cy="1188720"/>
          </a:xfrm>
          <a:prstGeom prst="roundRect">
            <a:avLst>
              <a:gd name="adj" fmla="val 6154"/>
            </a:avLst>
          </a:prstGeom>
          <a:solidFill>
            <a:srgbClr val="00A896"/>
          </a:solidFill>
          <a:ln w="1905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5202936" y="2542032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SILVER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276088" y="3090672"/>
            <a:ext cx="16367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A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· deduplicated · validated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6986016" y="269748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7488936" y="2377440"/>
            <a:ext cx="1783080" cy="1188720"/>
          </a:xfrm>
          <a:prstGeom prst="roundRect">
            <a:avLst>
              <a:gd name="adj" fmla="val 6154"/>
            </a:avLst>
          </a:prstGeom>
          <a:solidFill>
            <a:srgbClr val="02C39A"/>
          </a:solidFill>
          <a:ln w="1905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7488936" y="2542032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GOLD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562088" y="3090672"/>
            <a:ext cx="16367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A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9272016" y="269748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9774936" y="2377440"/>
            <a:ext cx="1783080" cy="1188720"/>
          </a:xfrm>
          <a:prstGeom prst="roundRect">
            <a:avLst>
              <a:gd name="adj" fmla="val 6154"/>
            </a:avLst>
          </a:prstGeom>
          <a:solidFill>
            <a:srgbClr val="F4F8F8"/>
          </a:solidFill>
          <a:ln w="19050">
            <a:solidFill>
              <a:srgbClr val="B9CF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9774936" y="2542032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9848088" y="3090672"/>
            <a:ext cx="16367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3-page report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094476" y="3566160"/>
            <a:ext cx="0" cy="594360"/>
          </a:xfrm>
          <a:prstGeom prst="line">
            <a:avLst/>
          </a:prstGeom>
          <a:noFill/>
          <a:ln w="19050">
            <a:solidFill>
              <a:srgbClr val="C0392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088636" y="4160520"/>
            <a:ext cx="2011680" cy="777240"/>
          </a:xfrm>
          <a:prstGeom prst="roundRect">
            <a:avLst>
              <a:gd name="adj" fmla="val 9412"/>
            </a:avLst>
          </a:prstGeom>
          <a:solidFill>
            <a:srgbClr val="FDEDEC"/>
          </a:solidFill>
          <a:ln w="1524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5088636" y="422452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QUARANTINE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088636" y="45262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22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rows + reason logs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097280" y="5394960"/>
            <a:ext cx="9966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layer lives on MinIO (S3-compatible object storage) and is written with PySpark using the S3A connector. Gold is additionally written back to Neon Postgres — the serving layer Power BI reads from — and exported as local Parquet for ad-hoc analysis.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Analytics &amp; Lakehouse Platform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PLATFORMS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731520" y="214884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Neon PostgreSQL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78892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A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database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83280" y="182880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3566160" y="214884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MinIO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566160" y="278892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A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S3-compatible object storage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82880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6400800" y="214884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PySpark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278892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A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Extraction, cleaning, transformation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052560" y="182880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9235440" y="214884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Parquet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9235440" y="278892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A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format across all layers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84048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731520" y="416052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Apache Airflow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480060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A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CeleryExecutor + Redis orchestration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383280" y="384048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3566160" y="416052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 Compose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3566160" y="480060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A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local deployment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17920" y="384048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6400800" y="416052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 DQ Gateway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0" y="480060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A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&amp; governance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052560" y="384048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9235440" y="416052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9235440" y="480060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A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3-page executive report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Analytics &amp; Lakehouse Platform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 Quality Gateway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960120" y="1618488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Uniqueness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931920" y="1618488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keys must be non-null and unique; re-ingested duplicates resolved by latest ingestion time.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258568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960120" y="2185416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Date Sanity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931920" y="2185416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appointment_date cannot be set in the future relative to execution date.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825496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960120" y="2752344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Positive Financials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931920" y="2752344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billed_amount and treatment_cost must be strictly greater than zero.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392424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960120" y="3319272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 Enums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931920" y="331927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payment_status must be one of Paid, Pending, Failed, Refunded.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959352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960120" y="388620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Referential Integrity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931920" y="388620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foreign key must resolve to a real parent row in Silver.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869680" y="1691640"/>
            <a:ext cx="2651760" cy="548640"/>
          </a:xfrm>
          <a:prstGeom prst="roundRect">
            <a:avLst>
              <a:gd name="adj" fmla="val 10000"/>
            </a:avLst>
          </a:prstGeom>
          <a:solidFill>
            <a:srgbClr val="F4F8F8"/>
          </a:solidFill>
          <a:ln w="12700">
            <a:solidFill>
              <a:srgbClr val="B9CF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8869680" y="17830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(raw)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0195560" y="2240280"/>
            <a:ext cx="0" cy="320040"/>
          </a:xfrm>
          <a:prstGeom prst="line">
            <a:avLst/>
          </a:prstGeom>
          <a:noFill/>
          <a:ln w="19050">
            <a:solidFill>
              <a:srgbClr val="5A6B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869680" y="2560320"/>
            <a:ext cx="2651760" cy="548640"/>
          </a:xfrm>
          <a:prstGeom prst="roundRect">
            <a:avLst>
              <a:gd name="adj" fmla="val 10000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8869680" y="26517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GATEWAY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509760" y="3108960"/>
            <a:ext cx="0" cy="274320"/>
          </a:xfrm>
          <a:prstGeom prst="line">
            <a:avLst/>
          </a:prstGeom>
          <a:noFill/>
          <a:ln w="19050">
            <a:solidFill>
              <a:srgbClr val="5A6B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0881360" y="3108960"/>
            <a:ext cx="0" cy="274320"/>
          </a:xfrm>
          <a:prstGeom prst="line">
            <a:avLst/>
          </a:prstGeom>
          <a:noFill/>
          <a:ln w="19050">
            <a:solidFill>
              <a:srgbClr val="5A6B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732520" y="3383280"/>
            <a:ext cx="1554480" cy="548640"/>
          </a:xfrm>
          <a:prstGeom prst="roundRect">
            <a:avLst>
              <a:gd name="adj" fmla="val 10000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8732520" y="34747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0469880" y="3383280"/>
            <a:ext cx="1554480" cy="548640"/>
          </a:xfrm>
          <a:prstGeom prst="roundRect">
            <a:avLst>
              <a:gd name="adj" fmla="val 10000"/>
            </a:avLst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 txBox="1"/>
          <p:nvPr/>
        </p:nvSpPr>
        <p:spPr>
          <a:xfrm>
            <a:off x="10469880" y="34747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QUARANTINE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8732520" y="41605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rejection is logged with a full reason and timestamp — nothing is silently dropped.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Analytics &amp; Lakehouse Platform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DIMENSIONAL MODEL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Gold Layer — Star Schema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28116" y="1828800"/>
            <a:ext cx="2377440" cy="594360"/>
          </a:xfrm>
          <a:prstGeom prst="roundRect">
            <a:avLst>
              <a:gd name="adj" fmla="val 9231"/>
            </a:avLst>
          </a:prstGeom>
          <a:solidFill>
            <a:srgbClr val="F4F8F8"/>
          </a:solidFill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928116" y="194767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dim_patients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579876" y="1828800"/>
            <a:ext cx="2377440" cy="594360"/>
          </a:xfrm>
          <a:prstGeom prst="roundRect">
            <a:avLst>
              <a:gd name="adj" fmla="val 9231"/>
            </a:avLst>
          </a:prstGeom>
          <a:solidFill>
            <a:srgbClr val="F4F8F8"/>
          </a:solidFill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3579876" y="194767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dim_doctors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31636" y="1828800"/>
            <a:ext cx="2377440" cy="594360"/>
          </a:xfrm>
          <a:prstGeom prst="roundRect">
            <a:avLst>
              <a:gd name="adj" fmla="val 9231"/>
            </a:avLst>
          </a:prstGeom>
          <a:solidFill>
            <a:srgbClr val="F4F8F8"/>
          </a:solidFill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6231636" y="194767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dim_treatments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883396" y="1828800"/>
            <a:ext cx="2377440" cy="594360"/>
          </a:xfrm>
          <a:prstGeom prst="roundRect">
            <a:avLst>
              <a:gd name="adj" fmla="val 9231"/>
            </a:avLst>
          </a:prstGeom>
          <a:solidFill>
            <a:srgbClr val="F4F8F8"/>
          </a:solidFill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8883396" y="194767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dim_date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1280160" y="3931920"/>
            <a:ext cx="4389120" cy="1188720"/>
          </a:xfrm>
          <a:prstGeom prst="roundRect">
            <a:avLst>
              <a:gd name="adj" fmla="val 6154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1508760" y="40690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fact_appointments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4462272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A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appointment_id · patient_id · doctor_id · date_key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A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· is_noshow · reason_for_visit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116836" y="2423160"/>
            <a:ext cx="1357884" cy="1508760"/>
          </a:xfrm>
          <a:prstGeom prst="line">
            <a:avLst/>
          </a:prstGeom>
          <a:noFill/>
          <a:ln w="9525">
            <a:solidFill>
              <a:srgbClr val="CFE3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768596" y="2423160"/>
            <a:ext cx="0" cy="1508760"/>
          </a:xfrm>
          <a:prstGeom prst="line">
            <a:avLst/>
          </a:prstGeom>
          <a:noFill/>
          <a:ln w="9525">
            <a:solidFill>
              <a:srgbClr val="CFE3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420356" y="2423160"/>
            <a:ext cx="0" cy="1508760"/>
          </a:xfrm>
          <a:prstGeom prst="line">
            <a:avLst/>
          </a:prstGeom>
          <a:noFill/>
          <a:ln w="9525">
            <a:solidFill>
              <a:srgbClr val="CFE3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0072116" y="2423160"/>
            <a:ext cx="0" cy="1508760"/>
          </a:xfrm>
          <a:prstGeom prst="line">
            <a:avLst/>
          </a:prstGeom>
          <a:noFill/>
          <a:ln w="9525">
            <a:solidFill>
              <a:srgbClr val="CFE3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492240" y="3931920"/>
            <a:ext cx="4389120" cy="1188720"/>
          </a:xfrm>
          <a:prstGeom prst="roundRect">
            <a:avLst>
              <a:gd name="adj" fmla="val 6154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6720840" y="40690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fact_billing_treatments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720840" y="4462272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A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bill_id · patient_id · treatment_id · doctor_id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A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billed_amount · treatment_cost · revenue_variance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116836" y="2423160"/>
            <a:ext cx="6569964" cy="1508760"/>
          </a:xfrm>
          <a:prstGeom prst="line">
            <a:avLst/>
          </a:prstGeom>
          <a:noFill/>
          <a:ln w="9525">
            <a:solidFill>
              <a:srgbClr val="CFE3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768596" y="2423160"/>
            <a:ext cx="3918204" cy="1508760"/>
          </a:xfrm>
          <a:prstGeom prst="line">
            <a:avLst/>
          </a:prstGeom>
          <a:noFill/>
          <a:ln w="9525">
            <a:solidFill>
              <a:srgbClr val="CFE3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420356" y="2423160"/>
            <a:ext cx="1266444" cy="1508760"/>
          </a:xfrm>
          <a:prstGeom prst="line">
            <a:avLst/>
          </a:prstGeom>
          <a:noFill/>
          <a:ln w="9525">
            <a:solidFill>
              <a:srgbClr val="CFE3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0072116" y="2423160"/>
            <a:ext cx="0" cy="1508760"/>
          </a:xfrm>
          <a:prstGeom prst="line">
            <a:avLst/>
          </a:prstGeom>
          <a:noFill/>
          <a:ln w="9525">
            <a:solidFill>
              <a:srgbClr val="CFE3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1280160" y="53492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revenue_variance = billed_amount − treatment_cost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Analytics &amp; Lakehouse Platform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AIRFLOW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Orchestration</a:t>
            </a:r>
            <a:endParaRPr lang="en-US" sz="3000" dirty="0"/>
          </a:p>
        </p:txBody>
      </p:sp>
      <p:pic>
        <p:nvPicPr>
          <p:cNvPr id="4" name="Image 0" descr="assets/airflow_dag_succ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91640"/>
            <a:ext cx="6949440" cy="346557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257800"/>
            <a:ext cx="6949440" cy="548640"/>
          </a:xfrm>
          <a:prstGeom prst="roundRect">
            <a:avLst>
              <a:gd name="adj" fmla="val 10000"/>
            </a:avLst>
          </a:prstGeom>
          <a:solidFill>
            <a:srgbClr val="F4F8F8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731520" y="534924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6 tasks succeeding end-to-end, including the Power BI refresh trigger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818120" y="173736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7818120" y="17373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229600" y="1691640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pre_run_check — live Neon + MinIO health &amp; bucket check</a:t>
            </a:r>
            <a:endParaRPr lang="en-US" sz="1080" dirty="0"/>
          </a:p>
        </p:txBody>
      </p:sp>
      <p:sp>
        <p:nvSpPr>
          <p:cNvPr id="10" name="Shape 7"/>
          <p:cNvSpPr/>
          <p:nvPr/>
        </p:nvSpPr>
        <p:spPr>
          <a:xfrm>
            <a:off x="7818120" y="242316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7818120" y="24231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229600" y="2377440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pyspark_extraction — Bronze ingestion</a:t>
            </a:r>
            <a:endParaRPr lang="en-US" sz="1080" dirty="0"/>
          </a:p>
        </p:txBody>
      </p:sp>
      <p:sp>
        <p:nvSpPr>
          <p:cNvPr id="13" name="Shape 10"/>
          <p:cNvSpPr/>
          <p:nvPr/>
        </p:nvSpPr>
        <p:spPr>
          <a:xfrm>
            <a:off x="7818120" y="310896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7818120" y="31089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0" y="3063240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data_quality_rules — Silver DQ Gateway</a:t>
            </a:r>
            <a:endParaRPr lang="en-US" sz="1080" dirty="0"/>
          </a:p>
        </p:txBody>
      </p:sp>
      <p:sp>
        <p:nvSpPr>
          <p:cNvPr id="16" name="Shape 13"/>
          <p:cNvSpPr/>
          <p:nvPr/>
        </p:nvSpPr>
        <p:spPr>
          <a:xfrm>
            <a:off x="7818120" y="379476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7818120" y="37947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8229600" y="3749040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gold_transformations — star schema build</a:t>
            </a:r>
            <a:endParaRPr lang="en-US" sz="1080" dirty="0"/>
          </a:p>
        </p:txBody>
      </p:sp>
      <p:sp>
        <p:nvSpPr>
          <p:cNvPr id="19" name="Shape 16"/>
          <p:cNvSpPr/>
          <p:nvPr/>
        </p:nvSpPr>
        <p:spPr>
          <a:xfrm>
            <a:off x="7818120" y="448056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7818120" y="44805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8229600" y="4434840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reconciliation_checks — fails the run on any mismatch</a:t>
            </a:r>
            <a:endParaRPr lang="en-US" sz="1080" dirty="0"/>
          </a:p>
        </p:txBody>
      </p:sp>
      <p:sp>
        <p:nvSpPr>
          <p:cNvPr id="22" name="Shape 19"/>
          <p:cNvSpPr/>
          <p:nvPr/>
        </p:nvSpPr>
        <p:spPr>
          <a:xfrm>
            <a:off x="7818120" y="516636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 txBox="1"/>
          <p:nvPr/>
        </p:nvSpPr>
        <p:spPr>
          <a:xfrm>
            <a:off x="7818120" y="51663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8229600" y="5120640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power_bi_refresh — triggers the Service dataset refresh</a:t>
            </a:r>
            <a:endParaRPr lang="en-US" sz="108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Analytics &amp; Lakehouse Platform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00A896"/>
                </a:solidFill>
                <a:latin typeface="Calibri"/>
              </a:rPr>
              <a:t>KEY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1A2E2E"/>
                </a:solidFill>
                <a:latin typeface="Cambria"/>
              </a:rPr>
              <a:t>Platform Highlights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2606040" cy="3017520"/>
          </a:xfrm>
          <a:prstGeom prst="rect">
            <a:avLst/>
          </a:prstGeom>
          <a:solidFill>
            <a:srgbClr val="F4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77240" y="1965960"/>
            <a:ext cx="502920" cy="50292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606040"/>
            <a:ext cx="21488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>
                <a:solidFill>
                  <a:srgbClr val="1A2E2E"/>
                </a:solidFill>
                <a:latin typeface="Cambria"/>
              </a:rPr>
              <a:t>Executive Reporting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017520"/>
            <a:ext cx="214884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5A6B6C"/>
                </a:solidFill>
                <a:latin typeface="Calibri"/>
              </a:rPr>
              <a:t>Branded header on all three pages, a dedicated Filters panel, labeled KPI cards, $K data labels, and Refresh / Clear Filters controls.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1691640"/>
            <a:ext cx="2606040" cy="3017520"/>
          </a:xfrm>
          <a:prstGeom prst="rect">
            <a:avLst/>
          </a:prstGeom>
          <a:solidFill>
            <a:srgbClr val="F4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611880" y="1965960"/>
            <a:ext cx="502920" cy="50292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2606040"/>
            <a:ext cx="21488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>
                <a:solidFill>
                  <a:srgbClr val="1A2E2E"/>
                </a:solidFill>
                <a:latin typeface="Cambria"/>
              </a:rPr>
              <a:t>Live Refresh Stamp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3017520"/>
            <a:ext cx="214884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5A6B6C"/>
                </a:solidFill>
                <a:latin typeface="Calibri"/>
              </a:rPr>
              <a:t>A 'Data Last Refreshed' DAX measure (FORMAT(NOW())) shows users exactly how fresh the data is, updating automatically on every model refresh.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691640"/>
            <a:ext cx="2606040" cy="3017520"/>
          </a:xfrm>
          <a:prstGeom prst="rect">
            <a:avLst/>
          </a:prstGeom>
          <a:solidFill>
            <a:srgbClr val="F4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46520" y="1965960"/>
            <a:ext cx="502920" cy="50292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606040"/>
            <a:ext cx="21488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>
                <a:solidFill>
                  <a:srgbClr val="1A2E2E"/>
                </a:solidFill>
                <a:latin typeface="Cambria"/>
              </a:rPr>
              <a:t>Gold → Neon Serving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017520"/>
            <a:ext cx="214884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5A6B6C"/>
                </a:solidFill>
                <a:latin typeface="Calibri"/>
              </a:rPr>
              <a:t>The Gold star schema is also written to Neon Postgres, and Power BI reads public.* tables through the Python connector — no hard-coded local paths.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52560" y="1691640"/>
            <a:ext cx="2606040" cy="3017520"/>
          </a:xfrm>
          <a:prstGeom prst="rect">
            <a:avLst/>
          </a:prstGeom>
          <a:solidFill>
            <a:srgbClr val="F4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281160" y="1965960"/>
            <a:ext cx="502920" cy="50292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81160" y="2606040"/>
            <a:ext cx="21488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>
                <a:solidFill>
                  <a:srgbClr val="1A2E2E"/>
                </a:solidFill>
                <a:latin typeface="Cambria"/>
              </a:rPr>
              <a:t>Celery Scaling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1160" y="3017520"/>
            <a:ext cx="214884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5A6B6C"/>
                </a:solidFill>
                <a:latin typeface="Calibri"/>
              </a:rPr>
              <a:t>Airflow runs on CeleryExecutor with a Redis broker, SMTP alert variables, and a volume-mounted Gold export at /opt/airflow/output.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02920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00A896"/>
                </a:solidFill>
                <a:latin typeface="Calibri"/>
              </a:rPr>
              <a:t>Reconciliation verified on every run  ·  Report and semantic-model files validated  ·  Power BI refresh triggered automatically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5A6B6C"/>
                </a:solidFill>
                <a:latin typeface="Calibri"/>
              </a:rPr>
              <a:t>Healthcare Analytics &amp; Lakehouse Platform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5A6B6C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— PAGE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Command Center Overview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11201400" cy="4617720"/>
          </a:xfrm>
          <a:prstGeom prst="roundRect">
            <a:avLst>
              <a:gd name="adj" fmla="val 792"/>
            </a:avLst>
          </a:prstGeom>
          <a:solidFill>
            <a:srgbClr val="FFFFFF"/>
          </a:solidFill>
          <a:ln w="19050">
            <a:solidFill>
              <a:srgbClr val="DCE9E9"/>
            </a:solidFill>
            <a:prstDash val="solid"/>
          </a:ln>
          <a:effectLst>
            <a:outerShdw blurRad="101600" dist="38100" dir="5400000" algn="bl" rotWithShape="0">
              <a:srgbClr val="1A2E2E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Analytics &amp; Lakehouse Platform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pic>
        <p:nvPicPr>
          <p:cNvPr id="8" name="Picture 7" descr="dashboard_page1_executi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7785" y="1783080"/>
            <a:ext cx="7611669" cy="42519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— PAGE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Integrity &amp; Billing Operations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11201400" cy="4617720"/>
          </a:xfrm>
          <a:prstGeom prst="roundRect">
            <a:avLst>
              <a:gd name="adj" fmla="val 792"/>
            </a:avLst>
          </a:prstGeom>
          <a:solidFill>
            <a:srgbClr val="FFFFFF"/>
          </a:solidFill>
          <a:ln w="19050">
            <a:solidFill>
              <a:srgbClr val="DCE9E9"/>
            </a:solidFill>
            <a:prstDash val="solid"/>
          </a:ln>
          <a:effectLst>
            <a:outerShdw blurRad="101600" dist="38100" dir="5400000" algn="bl" rotWithShape="0">
              <a:srgbClr val="1A2E2E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Analytics &amp; Lakehouse Platform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pic>
        <p:nvPicPr>
          <p:cNvPr id="8" name="Picture 7" descr="dashboard_page2_finan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5758" y="1783080"/>
            <a:ext cx="7495723" cy="42519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— PAGE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Operational Efficiency &amp; Capacity Planning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11201400" cy="4617720"/>
          </a:xfrm>
          <a:prstGeom prst="roundRect">
            <a:avLst>
              <a:gd name="adj" fmla="val 792"/>
            </a:avLst>
          </a:prstGeom>
          <a:solidFill>
            <a:srgbClr val="FFFFFF"/>
          </a:solidFill>
          <a:ln w="19050">
            <a:solidFill>
              <a:srgbClr val="DCE9E9"/>
            </a:solidFill>
            <a:prstDash val="solid"/>
          </a:ln>
          <a:effectLst>
            <a:outerShdw blurRad="101600" dist="38100" dir="5400000" algn="bl" rotWithShape="0">
              <a:srgbClr val="1A2E2E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Analytics &amp; Lakehouse Platform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pic>
        <p:nvPicPr>
          <p:cNvPr id="8" name="Picture 7" descr="dashboard_page3_operatio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2570" y="1783080"/>
            <a:ext cx="7562099" cy="42519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RECONCILIATION &amp; INTEGRITY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 Silent Data Loss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20440" cy="2651760"/>
          </a:xfrm>
          <a:prstGeom prst="roundRect">
            <a:avLst>
              <a:gd name="adj" fmla="val 2759"/>
            </a:avLst>
          </a:prstGeom>
          <a:solidFill>
            <a:srgbClr val="F4F8F8"/>
          </a:solidFill>
          <a:ln w="12700">
            <a:solidFill>
              <a:srgbClr val="DCE9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777240" y="2148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78892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Bronze → Silver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246120"/>
            <a:ext cx="3063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Bronze row count and financial sum must exactly equal Silver + Quarantine.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43400" y="1920240"/>
            <a:ext cx="3520440" cy="2651760"/>
          </a:xfrm>
          <a:prstGeom prst="roundRect">
            <a:avLst>
              <a:gd name="adj" fmla="val 2759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4572000" y="2148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78892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Silver → Gold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3246120"/>
            <a:ext cx="3063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A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counts and financial sums must match exactly — this join is lossless by construction.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38160" y="1920240"/>
            <a:ext cx="3520440" cy="2651760"/>
          </a:xfrm>
          <a:prstGeom prst="roundRect">
            <a:avLst>
              <a:gd name="adj" fmla="val 2759"/>
            </a:avLst>
          </a:prstGeom>
          <a:solidFill>
            <a:srgbClr val="F4F8F8"/>
          </a:solidFill>
          <a:ln w="12700">
            <a:solidFill>
              <a:srgbClr val="DCE9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8366760" y="2148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8366760" y="278892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Formula Sanity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366760" y="3246120"/>
            <a:ext cx="3063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SUM(revenue_variance) is independently recomputed as SUM(billed_amount) − SUM(treatment_cost) and compared.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937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mismatch fails the Airflow task immediately — a broken pipeline never silently reports success, and Power BI never refreshes on unreconciled data.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Analytics &amp; Lakehouse Platform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35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371600"/>
            <a:ext cx="4572000" cy="4572000"/>
          </a:xfrm>
          <a:prstGeom prst="ellipse">
            <a:avLst/>
          </a:prstGeom>
          <a:solidFill>
            <a:srgbClr val="028090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822960" y="2103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A FOUNDATION OF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46888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Governed Data, Verified Twice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42900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CFE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data-quality gating, end-to-end reconciliation, and a fully orchestrated Airflow pipeline — from a live operational database to an executive-ready Power BI report.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4480560"/>
            <a:ext cx="201168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822960" y="47091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C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Amer — Healthcare Analytics &amp; Lakehouse Platform Capstone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1004</Words>
  <Application>Microsoft Office PowerPoint</Application>
  <PresentationFormat>Widescreen</PresentationFormat>
  <Paragraphs>177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Mohamed Amer</cp:lastModifiedBy>
  <cp:revision>2</cp:revision>
  <dcterms:created xsi:type="dcterms:W3CDTF">2026-09-01T01:50:44Z</dcterms:created>
  <dcterms:modified xsi:type="dcterms:W3CDTF">2026-10-15T17:10:44Z</dcterms:modified>
</cp:coreProperties>
</file>